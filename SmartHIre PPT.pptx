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57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A8C4E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A8C4E0"/>
                </a:solidFill>
                <a:latin typeface="Arial"/>
              </a:rPr>
              <a:t>Accuracy Comparison Across Screening Methods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4A90D9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4A90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278-40B4-8CB7-4E280558B029}"/>
              </c:ext>
            </c:extLst>
          </c:dPt>
          <c:dPt>
            <c:idx val="1"/>
            <c:invertIfNegative val="0"/>
            <c:bubble3D val="0"/>
            <c:spPr>
              <a:solidFill>
                <a:srgbClr val="5BA8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278-40B4-8CB7-4E280558B029}"/>
              </c:ext>
            </c:extLst>
          </c:dPt>
          <c:dPt>
            <c:idx val="2"/>
            <c:invertIfNegative val="0"/>
            <c:bubble3D val="0"/>
            <c:spPr>
              <a:solidFill>
                <a:srgbClr val="E8A83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278-40B4-8CB7-4E280558B029}"/>
              </c:ext>
            </c:extLst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278-40B4-8CB7-4E280558B02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Keyword Filter</c:v>
                </c:pt>
                <c:pt idx="1">
                  <c:v>ML Classification</c:v>
                </c:pt>
                <c:pt idx="2">
                  <c:v>BERT</c:v>
                </c:pt>
                <c:pt idx="3">
                  <c:v>SmartHire (Hybrid)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</c:v>
                </c:pt>
                <c:pt idx="1">
                  <c:v>89</c:v>
                </c:pt>
                <c:pt idx="2">
                  <c:v>92</c:v>
                </c:pt>
                <c:pt idx="3">
                  <c:v>94.5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278-40B4-8CB7-4E280558B02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C4E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C4E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A162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2949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SmartHire — an AI-powered resume screening system that combines semantic similarity and keyword matching for intelligent, explainable candidate evaluation. This presentation covers the complete project from motivation to future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SmartHire was motivated by the real-world gap between keyword-based filtering and true candidate quality. By treating hiring as a pairwise relevance problem and using embeddings, we close that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Traditional hiring is overwhelmed by volume. Keyword-based ATS systems reject qualified candidates who phrase their skills differently. SmartHire addresses this with semantic understanding.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Existing systems are fragmented. Keyword tools are fast but shallow. ML models improve accuracy but lose interpretability. Deep learning (BERT) is powerful but expensive. SmartHire fills the gap: high accuracy, high interpretability, low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 has six clear objectives spanning NLP pipeline design, parsing, dual-mode UX, explainability, optional AI integration, and rigorous evaluation — making it both academically sound and practically deployable.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SmartHire's key innovation is the hybrid scoring formula. Semantic similarity (via MiniLM) captures contextual meaning while keyword matching ensures skill-specific relevance. Together they outperform either approach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 is modular and sequential: parse → preprocess → embed → match → score → output. Each stage is independently testable. The hybrid scoring at stage 6 is the core innovation.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SmartHire uses a clean 3-layer architecture: Flask frontend for UX, a Python backend for core NLP/ML processing, and an evaluation layer for performance reporting. Gemini API is optional and pluggable.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components are open-source and Python-based, ensuring low deployment cost. MiniLM is lightweight and fast. scikit-learn provides robust evaluation. Gemini API is optional, keeping the core system fully offline-capable.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SmartHire's Flask UI is clean and minimal. Individual mode serves job seekers and small teams; HR batch mode is designed for enterprise recruiters who need to rank large pools of candidates quickly.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HR batch mode tested on 500 candidates shows 1.2 seconds per resume, 92% top-10 accuracy, and an NDCG@10 of 0.93 — proving SmartHire can reliably surface the best candidates in enterprise-scale 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SmartHire achieves 94.5% accuracy on a 10,400-sample test set with balanced classes. The F1 score of 0.925 and ROC-AUC of 0.96 confirm the model is robust and not just optimizing for majority-class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ROC curve nearly hugs the top-left corner showing excellent discrimination. Feature importance confirms semantic similarity as the dominant signal. The clean score distribution shows the model confidently separates relevant from non-relevant resumes.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SmartHire delivers measurable impact: faster screening, better match quality, explainability for HR teams, reduced phrasing bias, low operational cost, and enterprise-grade scalability — all in a single open-source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SmartHire aligns with 5 UN SDGs. Most significantly SDG 10 (Reduced Inequalities) through semantic fairness, and SDG 8 (Decent Work) by making hiring more efficient and accessible for both employers and job seekers.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roadmap evolves SmartHire from a proof-of-concept to a production-ready enterprise tool. Phase 2 adds multi-language and API integration. Phase 3 introduces interview automation and cloud-native scaling.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SmartHire is a complete, evaluated, and deployable AI system. It combines semantic depth with keyword precision, provides explainable outputs, and has been validated against 10,400+ test samples. It is ready for academic evaluation and real-world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B3F7A"/>
          </a:solidFill>
          <a:ln w="12700">
            <a:solidFill>
              <a:srgbClr val="1B3F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2B8FE0"/>
          </a:solidFill>
          <a:ln w="12700">
            <a:solidFill>
              <a:srgbClr val="2B8F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SmartHire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B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Resume Screening System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5029200" cy="45720"/>
          </a:xfrm>
          <a:prstGeom prst="rect">
            <a:avLst/>
          </a:prstGeom>
          <a:solidFill>
            <a:srgbClr val="3B5998"/>
          </a:solidFill>
          <a:ln w="12700">
            <a:solidFill>
              <a:srgbClr val="3B59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432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Candidate Evaluation using Hybrid Semantic + Keyword Matching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Technical Evaluation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280160" cy="41148"/>
          </a:xfrm>
          <a:prstGeom prst="rect">
            <a:avLst/>
          </a:prstGeom>
          <a:solidFill>
            <a:srgbClr val="2B8FE0"/>
          </a:solidFill>
          <a:ln w="12700">
            <a:solidFill>
              <a:srgbClr val="2B8F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96112"/>
            <a:ext cx="2788920" cy="1691640"/>
          </a:xfrm>
          <a:prstGeom prst="rect">
            <a:avLst/>
          </a:prstGeom>
          <a:solidFill>
            <a:srgbClr val="0D2240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96112"/>
            <a:ext cx="2788920" cy="64008"/>
          </a:xfrm>
          <a:prstGeom prst="rect">
            <a:avLst/>
          </a:prstGeom>
          <a:solidFill>
            <a:srgbClr val="2B8FE0"/>
          </a:solidFill>
          <a:ln w="12700">
            <a:solidFill>
              <a:srgbClr val="2B8F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3327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Pairwise Relevance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26464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resume is evaluated against a specific job description — not generic criteria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896112"/>
            <a:ext cx="2788920" cy="1691640"/>
          </a:xfrm>
          <a:prstGeom prst="rect">
            <a:avLst/>
          </a:prstGeom>
          <a:solidFill>
            <a:srgbClr val="0D2240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896112"/>
            <a:ext cx="2788920" cy="64008"/>
          </a:xfrm>
          <a:prstGeom prst="rect">
            <a:avLst/>
          </a:prstGeom>
          <a:solidFill>
            <a:srgbClr val="2B8FE0"/>
          </a:solidFill>
          <a:ln w="12700">
            <a:solidFill>
              <a:srgbClr val="2B8F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03327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Semantic Understanding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1426464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embeddings capture context beyond exact keyword matches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896112"/>
            <a:ext cx="2788920" cy="1691640"/>
          </a:xfrm>
          <a:prstGeom prst="rect">
            <a:avLst/>
          </a:prstGeom>
          <a:solidFill>
            <a:srgbClr val="0D2240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896112"/>
            <a:ext cx="2788920" cy="64008"/>
          </a:xfrm>
          <a:prstGeom prst="rect">
            <a:avLst/>
          </a:prstGeom>
          <a:solidFill>
            <a:srgbClr val="2B8FE0"/>
          </a:solidFill>
          <a:ln w="12700">
            <a:solidFill>
              <a:srgbClr val="2B8F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03327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Fairness &amp; Transparency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1426464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outputs — matched/missing skills visible to both HR and candidates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816352"/>
            <a:ext cx="2788920" cy="1691640"/>
          </a:xfrm>
          <a:prstGeom prst="rect">
            <a:avLst/>
          </a:prstGeom>
          <a:solidFill>
            <a:srgbClr val="0D2240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816352"/>
            <a:ext cx="2788920" cy="64008"/>
          </a:xfrm>
          <a:prstGeom prst="rect">
            <a:avLst/>
          </a:prstGeom>
          <a:solidFill>
            <a:srgbClr val="2B8FE0"/>
          </a:solidFill>
          <a:ln w="12700">
            <a:solidFill>
              <a:srgbClr val="2B8F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5351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Scalability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346704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batch processing for enterprise-scale hiring workflows efficiently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2816352"/>
            <a:ext cx="2788920" cy="1691640"/>
          </a:xfrm>
          <a:prstGeom prst="rect">
            <a:avLst/>
          </a:prstGeom>
          <a:solidFill>
            <a:srgbClr val="0D2240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2816352"/>
            <a:ext cx="2788920" cy="64008"/>
          </a:xfrm>
          <a:prstGeom prst="rect">
            <a:avLst/>
          </a:prstGeom>
          <a:solidFill>
            <a:srgbClr val="2B8FE0"/>
          </a:solidFill>
          <a:ln w="12700">
            <a:solidFill>
              <a:srgbClr val="2B8F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295351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Hybrid Approach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83280" y="3346704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both worlds: semantic depth + keyword precision in one system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2816352"/>
            <a:ext cx="2788920" cy="1691640"/>
          </a:xfrm>
          <a:prstGeom prst="rect">
            <a:avLst/>
          </a:prstGeom>
          <a:solidFill>
            <a:srgbClr val="0D2240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2816352"/>
            <a:ext cx="2788920" cy="64008"/>
          </a:xfrm>
          <a:prstGeom prst="rect">
            <a:avLst/>
          </a:prstGeom>
          <a:solidFill>
            <a:srgbClr val="2B8FE0"/>
          </a:solidFill>
          <a:ln w="12700">
            <a:solidFill>
              <a:srgbClr val="2B8F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295351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Real-World Impact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09360" y="3346704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cost per hire and time-to-hire while improving match quality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280160" cy="41148"/>
          </a:xfrm>
          <a:prstGeom prst="rect">
            <a:avLst/>
          </a:prstGeom>
          <a:solidFill>
            <a:srgbClr val="2B8FE0"/>
          </a:solidFill>
          <a:ln w="12700">
            <a:solidFill>
              <a:srgbClr val="2B8F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4114800" cy="3840480"/>
          </a:xfrm>
          <a:prstGeom prst="rect">
            <a:avLst/>
          </a:prstGeom>
          <a:solidFill>
            <a:srgbClr val="1B3F7A"/>
          </a:solidFill>
          <a:ln w="12700">
            <a:solidFill>
              <a:srgbClr val="1B3F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Hiring Challenge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spend 6–8 seconds per resume on average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75% of resumes are rejected before a human ever reads them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Keyword-only tools miss semantically similar, qualified candidates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screening is biased, inconsistent, and not scalable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transparency in rejection decisions for candidates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960120"/>
            <a:ext cx="3931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960120"/>
            <a:ext cx="64008" cy="777240"/>
          </a:xfrm>
          <a:prstGeom prst="rect">
            <a:avLst/>
          </a:prstGeom>
          <a:solidFill>
            <a:srgbClr val="2B8FE0"/>
          </a:solidFill>
          <a:ln w="12700">
            <a:solidFill>
              <a:srgbClr val="2B8F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99669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250+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0" y="1344168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Resumes per job post on average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874520"/>
            <a:ext cx="3931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874520"/>
            <a:ext cx="64008" cy="777240"/>
          </a:xfrm>
          <a:prstGeom prst="rect">
            <a:avLst/>
          </a:prstGeom>
          <a:solidFill>
            <a:srgbClr val="2B8FE0"/>
          </a:solidFill>
          <a:ln w="12700">
            <a:solidFill>
              <a:srgbClr val="2B8F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91109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029200" y="2258568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Screened out by ATS before review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2788920"/>
            <a:ext cx="3931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2788920"/>
            <a:ext cx="64008" cy="777240"/>
          </a:xfrm>
          <a:prstGeom prst="rect">
            <a:avLst/>
          </a:prstGeom>
          <a:solidFill>
            <a:srgbClr val="2B8FE0"/>
          </a:solidFill>
          <a:ln w="12700">
            <a:solidFill>
              <a:srgbClr val="2B8F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282549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Days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029200" y="3172968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time-to-hire globally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3703320"/>
            <a:ext cx="3931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3703320"/>
            <a:ext cx="64008" cy="777240"/>
          </a:xfrm>
          <a:prstGeom prst="rect">
            <a:avLst/>
          </a:prstGeom>
          <a:solidFill>
            <a:srgbClr val="2B8FE0"/>
          </a:solidFill>
          <a:ln w="12700">
            <a:solidFill>
              <a:srgbClr val="2B8F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373989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029200" y="4087368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hires due to poor screening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&amp; Limitations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280160" cy="41148"/>
          </a:xfrm>
          <a:prstGeom prst="rect">
            <a:avLst/>
          </a:prstGeom>
          <a:solidFill>
            <a:srgbClr val="2B8FE0"/>
          </a:solidFill>
          <a:ln w="12700">
            <a:solidFill>
              <a:srgbClr val="2B8FE0"/>
            </a:solidFill>
            <a:prstDash val="solid"/>
          </a:ln>
        </p:spPr>
      </p:sp>
      <p:pic>
        <p:nvPicPr>
          <p:cNvPr id="4" name="Image 0" descr="/home/claude/table_comparison.jpeg"/>
          <p:cNvPicPr>
            <a:picLocks noChangeAspect="1"/>
          </p:cNvPicPr>
          <p:nvPr/>
        </p:nvPicPr>
        <p:blipFill>
          <a:blip r:embed="rId3"/>
          <a:srcRect b="14286"/>
          <a:stretch>
            <a:fillRect/>
          </a:stretch>
        </p:blipFill>
        <p:spPr>
          <a:xfrm>
            <a:off x="365760" y="868680"/>
            <a:ext cx="5303520" cy="18663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2880360"/>
            <a:ext cx="8412480" cy="1828800"/>
          </a:xfrm>
          <a:prstGeom prst="rect">
            <a:avLst/>
          </a:prstGeom>
          <a:solidFill>
            <a:srgbClr val="FFF8E8"/>
          </a:solidFill>
          <a:ln w="12700">
            <a:solidFill>
              <a:srgbClr val="F59E0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2971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Limitations of Existing Approaches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333756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Keyword-based ATS: No semantic understanding — rejects qualified candidates with varied phrasing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Classification: Binary output only — no continuous relevance score or skill gap feedback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BERT/Deep Learning: High interpretability cost, slow inference, difficult to deploy at low cost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provide: continuous scores, skill gap analysis, dual-mode operation, AND explainability together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280160" cy="41148"/>
          </a:xfrm>
          <a:prstGeom prst="rect">
            <a:avLst/>
          </a:prstGeom>
          <a:solidFill>
            <a:srgbClr val="2B8FE0"/>
          </a:solidFill>
          <a:ln w="12700">
            <a:solidFill>
              <a:srgbClr val="2B8F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96112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96112"/>
            <a:ext cx="594360" cy="566928"/>
          </a:xfrm>
          <a:prstGeom prst="rect">
            <a:avLst/>
          </a:prstGeom>
          <a:solidFill>
            <a:srgbClr val="1B3F7A"/>
          </a:solidFill>
          <a:ln w="12700">
            <a:solidFill>
              <a:srgbClr val="1B3F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87552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987552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hybrid NLP pipeline combining semantic and keyword-based resume screening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563624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563624"/>
            <a:ext cx="594360" cy="566928"/>
          </a:xfrm>
          <a:prstGeom prst="rect">
            <a:avLst/>
          </a:prstGeom>
          <a:solidFill>
            <a:srgbClr val="1B3F7A"/>
          </a:solidFill>
          <a:ln w="12700">
            <a:solidFill>
              <a:srgbClr val="1B3F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55064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1655064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robust resume parser supporting PDF and DOCX formats with contact extraction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231136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231136"/>
            <a:ext cx="594360" cy="566928"/>
          </a:xfrm>
          <a:prstGeom prst="rect">
            <a:avLst/>
          </a:prstGeom>
          <a:solidFill>
            <a:srgbClr val="1B3F7A"/>
          </a:solidFill>
          <a:ln w="12700">
            <a:solidFill>
              <a:srgbClr val="1B3F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322576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2322576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dual-mode operation: Individual analysis &amp; HR batch ranking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898648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898648"/>
            <a:ext cx="594360" cy="566928"/>
          </a:xfrm>
          <a:prstGeom prst="rect">
            <a:avLst/>
          </a:prstGeom>
          <a:solidFill>
            <a:srgbClr val="1B3F7A"/>
          </a:solidFill>
          <a:ln w="12700">
            <a:solidFill>
              <a:srgbClr val="1B3F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990088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2990088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explainable outputs including skill gap analysis and match reasoning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566160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566160"/>
            <a:ext cx="594360" cy="566928"/>
          </a:xfrm>
          <a:prstGeom prst="rect">
            <a:avLst/>
          </a:prstGeom>
          <a:solidFill>
            <a:srgbClr val="1B3F7A"/>
          </a:solidFill>
          <a:ln w="12700">
            <a:solidFill>
              <a:srgbClr val="1B3F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65760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51560" y="3657600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optional Gemini AI for structured JD understanding and feedback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4233672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4233672"/>
            <a:ext cx="594360" cy="566928"/>
          </a:xfrm>
          <a:prstGeom prst="rect">
            <a:avLst/>
          </a:prstGeom>
          <a:solidFill>
            <a:srgbClr val="1B3F7A"/>
          </a:solidFill>
          <a:ln w="12700">
            <a:solidFill>
              <a:srgbClr val="1B3F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325112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51560" y="4325112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system with standard ML metrics: Accuracy, Precision, Recall, F1, ROC-AUC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— SmartHire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280160" cy="41148"/>
          </a:xfrm>
          <a:prstGeom prst="rect">
            <a:avLst/>
          </a:prstGeom>
          <a:solidFill>
            <a:srgbClr val="2B8FE0"/>
          </a:solidFill>
          <a:ln w="12700">
            <a:solidFill>
              <a:srgbClr val="2B8F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0"/>
            <a:ext cx="4846320" cy="822960"/>
          </a:xfrm>
          <a:prstGeom prst="rect">
            <a:avLst/>
          </a:prstGeom>
          <a:solidFill>
            <a:srgbClr val="0D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54864" cy="822960"/>
          </a:xfrm>
          <a:prstGeom prst="rect">
            <a:avLst/>
          </a:prstGeom>
          <a:solidFill>
            <a:srgbClr val="2B8FE0"/>
          </a:solidFill>
          <a:ln w="12700">
            <a:solidFill>
              <a:srgbClr val="2B8F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784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Hybrid Matching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 + keyword skill matching in a single pipeline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874520"/>
            <a:ext cx="4846320" cy="822960"/>
          </a:xfrm>
          <a:prstGeom prst="rect">
            <a:avLst/>
          </a:prstGeom>
          <a:solidFill>
            <a:srgbClr val="0D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874520"/>
            <a:ext cx="54864" cy="822960"/>
          </a:xfrm>
          <a:prstGeom prst="rect">
            <a:avLst/>
          </a:prstGeom>
          <a:solidFill>
            <a:srgbClr val="2B8FE0"/>
          </a:solidFill>
          <a:ln w="12700">
            <a:solidFill>
              <a:srgbClr val="2B8F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385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Universal Parsing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2860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&amp; DOCX resume parsing with contact extraction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834640"/>
            <a:ext cx="4846320" cy="822960"/>
          </a:xfrm>
          <a:prstGeom prst="rect">
            <a:avLst/>
          </a:prstGeom>
          <a:solidFill>
            <a:srgbClr val="0D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834640"/>
            <a:ext cx="54864" cy="822960"/>
          </a:xfrm>
          <a:prstGeom prst="rect">
            <a:avLst/>
          </a:prstGeom>
          <a:solidFill>
            <a:srgbClr val="2B8FE0"/>
          </a:solidFill>
          <a:ln w="12700">
            <a:solidFill>
              <a:srgbClr val="2B8F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986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Explainable Output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246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skills, missing skills, score breakdown per candidate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794760"/>
            <a:ext cx="4846320" cy="822960"/>
          </a:xfrm>
          <a:prstGeom prst="rect">
            <a:avLst/>
          </a:prstGeom>
          <a:solidFill>
            <a:srgbClr val="0D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794760"/>
            <a:ext cx="54864" cy="822960"/>
          </a:xfrm>
          <a:prstGeom prst="rect">
            <a:avLst/>
          </a:prstGeom>
          <a:solidFill>
            <a:srgbClr val="2B8FE0"/>
          </a:solidFill>
          <a:ln w="12700">
            <a:solidFill>
              <a:srgbClr val="2B8F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85876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Optional Gemini AI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42062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job description parsing and AI-generated feedback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0" y="868680"/>
            <a:ext cx="3291840" cy="3886200"/>
          </a:xfrm>
          <a:prstGeom prst="rect">
            <a:avLst/>
          </a:prstGeom>
          <a:solidFill>
            <a:srgbClr val="0D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3560" y="1005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Score Formula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69280" y="1417320"/>
            <a:ext cx="310896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2B8F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15000" y="1463040"/>
            <a:ext cx="30175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α × Semantic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β × Keyword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623560" y="237744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Semantic weight (MiniLM cosine similarity)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Keyword weight (spaCy skill overlap)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normalized to 0–100 scale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Mode: Individual + HR Batch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Score · Rank · Skill Gap · Contact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Processing Pipeline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280160" cy="41148"/>
          </a:xfrm>
          <a:prstGeom prst="rect">
            <a:avLst/>
          </a:prstGeom>
          <a:solidFill>
            <a:srgbClr val="2B8FE0"/>
          </a:solidFill>
          <a:ln w="12700">
            <a:solidFill>
              <a:srgbClr val="2B8F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1097280" cy="1371600"/>
          </a:xfrm>
          <a:prstGeom prst="rect">
            <a:avLst/>
          </a:prstGeom>
          <a:solidFill>
            <a:srgbClr val="1B3F7A"/>
          </a:solidFill>
          <a:ln w="12700">
            <a:solidFill>
              <a:srgbClr val="1B3F7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332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" y="1399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70992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Resume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0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(PDF / DOCX)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17320" y="1508760"/>
            <a:ext cx="13716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54480" y="960120"/>
            <a:ext cx="1097280" cy="1371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54480" y="10332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1399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08760" y="170992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0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(PyMuPDF / python-docx)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51760" y="1508760"/>
            <a:ext cx="13716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88920" y="960120"/>
            <a:ext cx="1097280" cy="137160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88920" y="10332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788920" y="1399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0" y="170992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0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(spaCy + NLTK)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86200" y="1508760"/>
            <a:ext cx="13716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23360" y="960120"/>
            <a:ext cx="1097280" cy="1371600"/>
          </a:xfrm>
          <a:prstGeom prst="rect">
            <a:avLst/>
          </a:prstGeom>
          <a:solidFill>
            <a:srgbClr val="01579B"/>
          </a:solidFill>
          <a:ln w="12700">
            <a:solidFill>
              <a:srgbClr val="01579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023360" y="10332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023360" y="1399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77640" y="170992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0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Embeddings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120640" y="1508760"/>
            <a:ext cx="13716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57800" y="960120"/>
            <a:ext cx="1097280" cy="1371600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257800" y="10332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257800" y="1399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12080" y="170992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Extraction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0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Skill Matching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355080" y="1508760"/>
            <a:ext cx="13716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92240" y="960120"/>
            <a:ext cx="1097280" cy="137160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92240" y="10332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492240" y="1399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46520" y="170992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Score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0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 (0–100)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589520" y="1508760"/>
            <a:ext cx="13716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26680" y="960120"/>
            <a:ext cx="1097280" cy="13716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726680" y="10332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726680" y="1399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680960" y="170992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· Skills · Contact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0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Report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2514600"/>
            <a:ext cx="8412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26334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Detail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02920" y="2971800"/>
            <a:ext cx="4114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&amp; stopword removal (NLTK)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Entity Recognition for skills (spaCy)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Synonym expansion for keyword coverage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&amp; phone extraction via regex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663440" y="2971800"/>
            <a:ext cx="4023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embedding via MiniLM-L6-v2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for semantic score (0–1)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Jaccard-style keyword overlap score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linear combination → Final Score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280160" cy="41148"/>
          </a:xfrm>
          <a:prstGeom prst="rect">
            <a:avLst/>
          </a:prstGeom>
          <a:solidFill>
            <a:srgbClr val="2B8FE0"/>
          </a:solidFill>
          <a:ln w="12700">
            <a:solidFill>
              <a:srgbClr val="2B8F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8412480" cy="1207008"/>
          </a:xfrm>
          <a:prstGeom prst="rect">
            <a:avLst/>
          </a:prstGeom>
          <a:solidFill>
            <a:srgbClr val="1B3F7A"/>
          </a:solidFill>
          <a:ln w="12700">
            <a:solidFill>
              <a:srgbClr val="1B3F7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332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Frontend (Flask Web UI)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Upload Form   •   Job Description Input   •   Individual &amp; HR Mode Toggle   •   Results Dashboard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138160" y="1216152"/>
            <a:ext cx="457200" cy="457200"/>
          </a:xfrm>
          <a:prstGeom prst="ellipse">
            <a:avLst/>
          </a:prstGeom>
          <a:solidFill>
            <a:srgbClr val="2B8FE0"/>
          </a:solidFill>
          <a:ln w="12700">
            <a:solidFill>
              <a:srgbClr val="2B8F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38160" y="124358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313432"/>
            <a:ext cx="8412480" cy="1207008"/>
          </a:xfrm>
          <a:prstGeom prst="rect">
            <a:avLst/>
          </a:prstGeom>
          <a:solidFill>
            <a:srgbClr val="004D7A"/>
          </a:solidFill>
          <a:ln w="12700">
            <a:solidFill>
              <a:srgbClr val="004D7A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3865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Backend (Python Processing Engine)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77063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Parser (PyMuPDF, python-docx)   •   NLP Engine (spaCy, NLTK)   •   Embedding Engine (Sentence-Transformers)   •   Hybrid Scorer &amp; Ranker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2569464"/>
            <a:ext cx="457200" cy="457200"/>
          </a:xfrm>
          <a:prstGeom prst="ellipse">
            <a:avLst/>
          </a:prstGeom>
          <a:solidFill>
            <a:srgbClr val="2B8FE0"/>
          </a:solidFill>
          <a:ln w="12700">
            <a:solidFill>
              <a:srgbClr val="2B8F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259689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3666744"/>
            <a:ext cx="8412480" cy="1207008"/>
          </a:xfrm>
          <a:prstGeom prst="rect">
            <a:avLst/>
          </a:prstGeom>
          <a:solidFill>
            <a:srgbClr val="005F5F"/>
          </a:solidFill>
          <a:ln w="12700">
            <a:solidFill>
              <a:srgbClr val="005F5F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73989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Evaluation &amp; Optional AI Layer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123944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(Accuracy, F1, ROC-AUC)   •   Google Gemini API (JD Structuring)   •   Offline Test Dataset (1000+ pairs)   •   Performance Report Generator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38160" y="3922776"/>
            <a:ext cx="457200" cy="457200"/>
          </a:xfrm>
          <a:prstGeom prst="ellipse">
            <a:avLst/>
          </a:prstGeom>
          <a:solidFill>
            <a:srgbClr val="2B8FE0"/>
          </a:solidFill>
          <a:ln w="12700">
            <a:solidFill>
              <a:srgbClr val="2B8F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39502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343400" y="2121408"/>
            <a:ext cx="45720" cy="146304"/>
          </a:xfrm>
          <a:prstGeom prst="rect">
            <a:avLst/>
          </a:prstGeom>
          <a:solidFill>
            <a:srgbClr val="2B8FE0"/>
          </a:solidFill>
          <a:ln w="12700">
            <a:solidFill>
              <a:srgbClr val="2B8F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43400" y="3474720"/>
            <a:ext cx="45720" cy="146304"/>
          </a:xfrm>
          <a:prstGeom prst="rect">
            <a:avLst/>
          </a:prstGeom>
          <a:solidFill>
            <a:srgbClr val="2B8FE0"/>
          </a:solidFill>
          <a:ln w="12700">
            <a:solidFill>
              <a:srgbClr val="2B8FE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280160" cy="41148"/>
          </a:xfrm>
          <a:prstGeom prst="rect">
            <a:avLst/>
          </a:prstGeom>
          <a:solidFill>
            <a:srgbClr val="2B8FE0"/>
          </a:solidFill>
          <a:ln w="12700">
            <a:solidFill>
              <a:srgbClr val="2B8F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4114800" cy="384048"/>
          </a:xfrm>
          <a:prstGeom prst="rect">
            <a:avLst/>
          </a:prstGeom>
          <a:solidFill>
            <a:srgbClr val="1B3F7A"/>
          </a:solidFill>
          <a:ln w="12700">
            <a:solidFill>
              <a:srgbClr val="1B3F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78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Text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— NER, tokenization, skill extraction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— Stopword removal, preprocessing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 (MiniLM-L6-v2) — Semantic embeddings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914400"/>
            <a:ext cx="4114800" cy="384048"/>
          </a:xfrm>
          <a:prstGeom prst="rect">
            <a:avLst/>
          </a:prstGeom>
          <a:solidFill>
            <a:srgbClr val="005F7A"/>
          </a:solidFill>
          <a:ln w="12700">
            <a:solidFill>
              <a:srgbClr val="005F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978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Parsing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389888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(fitz) — PDF text extraction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python-docx — DOCX parsing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— Contact extraction (email, phone)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26080"/>
            <a:ext cx="4114800" cy="384048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9900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&amp; Evaluation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401568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— Accuracy, Precision, Recall, F1, ROC-AUC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/ Pandas — Data processing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hybrid scorer — Semantic + Keyword weighting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92608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926080"/>
            <a:ext cx="4114800" cy="38404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9900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AI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3401568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— Web framework &amp; routing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 — Optional JD parsing &amp; feedback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 — Dashboard UI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Overview — Dashboard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280160" cy="41148"/>
          </a:xfrm>
          <a:prstGeom prst="rect">
            <a:avLst/>
          </a:prstGeom>
          <a:solidFill>
            <a:srgbClr val="2B8FE0"/>
          </a:solidFill>
          <a:ln w="12700">
            <a:solidFill>
              <a:srgbClr val="2B8F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68680"/>
            <a:ext cx="4206240" cy="3931920"/>
          </a:xfrm>
          <a:prstGeom prst="rect">
            <a:avLst/>
          </a:prstGeom>
          <a:solidFill>
            <a:srgbClr val="0D346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875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Individual Mode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408176"/>
            <a:ext cx="2743200" cy="36576"/>
          </a:xfrm>
          <a:prstGeom prst="rect">
            <a:avLst/>
          </a:prstGeom>
          <a:solidFill>
            <a:srgbClr val="2B8FE0"/>
          </a:solidFill>
          <a:ln w="12700">
            <a:solidFill>
              <a:srgbClr val="2B8F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36192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single resume (PDF/DOCX)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or paste job description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match score (0–100)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matched &amp; missing skills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info auto-extracted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Gemini AI feedback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4206240" cy="3931920"/>
          </a:xfrm>
          <a:prstGeom prst="rect">
            <a:avLst/>
          </a:prstGeom>
          <a:solidFill>
            <a:srgbClr val="0A3D3D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9875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HR Batch Mode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937760" y="1408176"/>
            <a:ext cx="2743200" cy="36576"/>
          </a:xfrm>
          <a:prstGeom prst="rect">
            <a:avLst/>
          </a:prstGeom>
          <a:solidFill>
            <a:srgbClr val="2B8FE0"/>
          </a:solidFill>
          <a:ln w="12700">
            <a:solidFill>
              <a:srgbClr val="2B8F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536192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multiple resumes at once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all against one JD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candidate list by score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report for HR team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comparison across candidates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Top-N candidate shortlisting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Batch Processing &amp; Ranking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280160" cy="41148"/>
          </a:xfrm>
          <a:prstGeom prst="rect">
            <a:avLst/>
          </a:prstGeom>
          <a:solidFill>
            <a:srgbClr val="2B8FE0"/>
          </a:solidFill>
          <a:ln w="12700">
            <a:solidFill>
              <a:srgbClr val="2B8FE0"/>
            </a:solidFill>
            <a:prstDash val="solid"/>
          </a:ln>
        </p:spPr>
      </p:sp>
      <p:pic>
        <p:nvPicPr>
          <p:cNvPr id="4" name="Image 0" descr="/home/claude/table_ranking.jpeg"/>
          <p:cNvPicPr>
            <a:picLocks noChangeAspect="1"/>
          </p:cNvPicPr>
          <p:nvPr/>
        </p:nvPicPr>
        <p:blipFill>
          <a:blip r:embed="rId3"/>
          <a:srcRect b="10674"/>
          <a:stretch>
            <a:fillRect/>
          </a:stretch>
        </p:blipFill>
        <p:spPr>
          <a:xfrm>
            <a:off x="365760" y="868680"/>
            <a:ext cx="5029200" cy="179695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0" y="868680"/>
            <a:ext cx="3108960" cy="804672"/>
          </a:xfrm>
          <a:prstGeom prst="rect">
            <a:avLst/>
          </a:prstGeom>
          <a:solidFill>
            <a:srgbClr val="1B3F7A"/>
          </a:solidFill>
          <a:ln w="12700">
            <a:solidFill>
              <a:srgbClr val="1B3F7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760720" y="90525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760720" y="1325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Evaluated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669280" y="1828800"/>
            <a:ext cx="3108960" cy="804672"/>
          </a:xfrm>
          <a:prstGeom prst="rect">
            <a:avLst/>
          </a:prstGeom>
          <a:solidFill>
            <a:srgbClr val="1B3F7A"/>
          </a:solidFill>
          <a:ln w="12700">
            <a:solidFill>
              <a:srgbClr val="1B3F7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760720" y="186537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1.2s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760720" y="2286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Processing per Resume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0" y="2788920"/>
            <a:ext cx="3108960" cy="804672"/>
          </a:xfrm>
          <a:prstGeom prst="rect">
            <a:avLst/>
          </a:prstGeom>
          <a:solidFill>
            <a:srgbClr val="1B3F7A"/>
          </a:solidFill>
          <a:ln w="12700">
            <a:solidFill>
              <a:srgbClr val="1B3F7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760720" y="282549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5760720" y="3246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Ranking Accuracy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669280" y="3749040"/>
            <a:ext cx="3108960" cy="804672"/>
          </a:xfrm>
          <a:prstGeom prst="rect">
            <a:avLst/>
          </a:prstGeom>
          <a:solidFill>
            <a:srgbClr val="1B3F7A"/>
          </a:solidFill>
          <a:ln w="12700">
            <a:solidFill>
              <a:srgbClr val="1B3F7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760720" y="378561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5760720" y="4206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NDCG@10 Score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65760" y="2999232"/>
            <a:ext cx="5120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3090672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(Mean Reciprocal Rank): 0.91 — relevant candidates found near the top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Top-20 Accuracy: 95% — nearly all top candidates correctly identified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Consistency Score: 0.90 across repeated evaluations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Relevance Score for top shortlisted candidates: 87.5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Results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280160" cy="41148"/>
          </a:xfrm>
          <a:prstGeom prst="rect">
            <a:avLst/>
          </a:prstGeom>
          <a:solidFill>
            <a:srgbClr val="2B8FE0"/>
          </a:solidFill>
          <a:ln w="12700">
            <a:solidFill>
              <a:srgbClr val="2B8FE0"/>
            </a:solidFill>
            <a:prstDash val="solid"/>
          </a:ln>
        </p:spPr>
      </p:sp>
      <p:pic>
        <p:nvPicPr>
          <p:cNvPr id="4" name="Image 0" descr="/home/claude/table_classification.jpeg"/>
          <p:cNvPicPr>
            <a:picLocks noChangeAspect="1"/>
          </p:cNvPicPr>
          <p:nvPr/>
        </p:nvPicPr>
        <p:blipFill>
          <a:blip r:embed="rId3"/>
          <a:srcRect b="9091"/>
          <a:stretch>
            <a:fillRect/>
          </a:stretch>
        </p:blipFill>
        <p:spPr>
          <a:xfrm>
            <a:off x="365760" y="868680"/>
            <a:ext cx="45720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212080" y="868680"/>
            <a:ext cx="1234440" cy="777240"/>
          </a:xfrm>
          <a:prstGeom prst="rect">
            <a:avLst/>
          </a:prstGeom>
          <a:solidFill>
            <a:srgbClr val="0D2240"/>
          </a:solidFill>
          <a:ln w="1270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212080" y="92354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94.5%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212080" y="1344168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537960" y="868680"/>
            <a:ext cx="1234440" cy="777240"/>
          </a:xfrm>
          <a:prstGeom prst="rect">
            <a:avLst/>
          </a:prstGeom>
          <a:solidFill>
            <a:srgbClr val="0D2240"/>
          </a:solidFill>
          <a:ln w="12700">
            <a:solidFill>
              <a:srgbClr val="2B8FE0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537960" y="92354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B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37960" y="1344168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863840" y="868680"/>
            <a:ext cx="1234440" cy="777240"/>
          </a:xfrm>
          <a:prstGeom prst="rect">
            <a:avLst/>
          </a:prstGeom>
          <a:solidFill>
            <a:srgbClr val="0D2240"/>
          </a:solidFill>
          <a:ln w="1270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863840" y="92354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863840" y="1344168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212080" y="1783080"/>
            <a:ext cx="1234440" cy="777240"/>
          </a:xfrm>
          <a:prstGeom prst="rect">
            <a:avLst/>
          </a:prstGeom>
          <a:solidFill>
            <a:srgbClr val="0D2240"/>
          </a:solidFill>
          <a:ln w="12700">
            <a:solidFill>
              <a:srgbClr val="8B5CF6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212080" y="183794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0.925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212080" y="2258568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37960" y="1783080"/>
            <a:ext cx="1234440" cy="777240"/>
          </a:xfrm>
          <a:prstGeom prst="rect">
            <a:avLst/>
          </a:prstGeom>
          <a:solidFill>
            <a:srgbClr val="0D2240"/>
          </a:solidFill>
          <a:ln w="12700">
            <a:solidFill>
              <a:srgbClr val="EF4444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537960" y="183794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537960" y="2258568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365760" y="3017520"/>
          <a:ext cx="841248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Results — Graphs &amp; Charts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280160" cy="41148"/>
          </a:xfrm>
          <a:prstGeom prst="rect">
            <a:avLst/>
          </a:prstGeom>
          <a:solidFill>
            <a:srgbClr val="2B8FE0"/>
          </a:solidFill>
          <a:ln w="12700">
            <a:solidFill>
              <a:srgbClr val="2B8FE0"/>
            </a:solidFill>
            <a:prstDash val="solid"/>
          </a:ln>
        </p:spPr>
      </p:sp>
      <p:pic>
        <p:nvPicPr>
          <p:cNvPr id="4" name="Image 0" descr="/home/claude/fig_roc_curve.jpeg"/>
          <p:cNvPicPr>
            <a:picLocks noChangeAspect="1"/>
          </p:cNvPicPr>
          <p:nvPr/>
        </p:nvPicPr>
        <p:blipFill>
          <a:blip r:embed="rId3"/>
          <a:srcRect b="10870"/>
          <a:stretch>
            <a:fillRect/>
          </a:stretch>
        </p:blipFill>
        <p:spPr>
          <a:xfrm>
            <a:off x="365760" y="868680"/>
            <a:ext cx="2834640" cy="20253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28940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 (AUC = 0.96)</a:t>
            </a:r>
            <a:endParaRPr lang="en-US" sz="1000" dirty="0"/>
          </a:p>
        </p:txBody>
      </p:sp>
      <p:pic>
        <p:nvPicPr>
          <p:cNvPr id="6" name="Image 1" descr="/home/claude/fig_score_dist.jpeg"/>
          <p:cNvPicPr>
            <a:picLocks noChangeAspect="1"/>
          </p:cNvPicPr>
          <p:nvPr/>
        </p:nvPicPr>
        <p:blipFill>
          <a:blip r:embed="rId4"/>
          <a:srcRect b="9317"/>
          <a:stretch>
            <a:fillRect/>
          </a:stretch>
        </p:blipFill>
        <p:spPr>
          <a:xfrm>
            <a:off x="3383280" y="868680"/>
            <a:ext cx="5394960" cy="20252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54705" y="2893913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Resume Matching Scores</a:t>
            </a:r>
            <a:endParaRPr lang="en-US" sz="1000" dirty="0"/>
          </a:p>
        </p:txBody>
      </p:sp>
      <p:pic>
        <p:nvPicPr>
          <p:cNvPr id="8" name="Image 2" descr="/home/claude/fig_feature_importance.jpeg"/>
          <p:cNvPicPr>
            <a:picLocks noChangeAspect="1"/>
          </p:cNvPicPr>
          <p:nvPr/>
        </p:nvPicPr>
        <p:blipFill>
          <a:blip r:embed="rId5"/>
          <a:srcRect b="7458"/>
          <a:stretch>
            <a:fillRect/>
          </a:stretch>
        </p:blipFill>
        <p:spPr>
          <a:xfrm>
            <a:off x="365760" y="3337560"/>
            <a:ext cx="3931920" cy="15544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65760" y="48920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in Resume Screening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4480560" y="3337560"/>
            <a:ext cx="4297680" cy="1810512"/>
          </a:xfrm>
          <a:prstGeom prst="rect">
            <a:avLst/>
          </a:prstGeom>
          <a:solidFill>
            <a:srgbClr val="1B3F7A"/>
          </a:solidFill>
          <a:ln w="12700">
            <a:solidFill>
              <a:srgbClr val="1B3F7A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4617720" y="34290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4617720" y="3767328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 dominates at 56% feature importance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Matching contributes 28% — essential for skill precision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score distribution peaks at 0.75–0.90 showing strong matching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of 0.96 confirms near-perfect discriminative ability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Impacts &amp; Benefits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280160" cy="41148"/>
          </a:xfrm>
          <a:prstGeom prst="rect">
            <a:avLst/>
          </a:prstGeom>
          <a:solidFill>
            <a:srgbClr val="2B8FE0"/>
          </a:solidFill>
          <a:ln w="12700">
            <a:solidFill>
              <a:srgbClr val="2B8F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0"/>
            <a:ext cx="2788920" cy="1783080"/>
          </a:xfrm>
          <a:prstGeom prst="rect">
            <a:avLst/>
          </a:prstGeom>
          <a:solidFill>
            <a:srgbClr val="0D346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54864" cy="1783080"/>
          </a:xfrm>
          <a:prstGeom prst="rect">
            <a:avLst/>
          </a:prstGeom>
          <a:solidFill>
            <a:srgbClr val="2B8FE0"/>
          </a:solidFill>
          <a:ln w="12700">
            <a:solidFill>
              <a:srgbClr val="2B8F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0241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Time Savings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" y="1444752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screening time from hours to seconds — 500 resumes in under 10 minutes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914400"/>
            <a:ext cx="2788920" cy="1783080"/>
          </a:xfrm>
          <a:prstGeom prst="rect">
            <a:avLst/>
          </a:prstGeom>
          <a:solidFill>
            <a:srgbClr val="0A3D3D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914400"/>
            <a:ext cx="54864" cy="1783080"/>
          </a:xfrm>
          <a:prstGeom prst="rect">
            <a:avLst/>
          </a:prstGeom>
          <a:solidFill>
            <a:srgbClr val="2B8FE0"/>
          </a:solidFill>
          <a:ln w="12700">
            <a:solidFill>
              <a:srgbClr val="2B8F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0712" y="10241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Higher Match Quality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10712" y="1444752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94.5% accuracy ensures the best candidates are surfaced, not just keyword matches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914400"/>
            <a:ext cx="2788920" cy="1783080"/>
          </a:xfrm>
          <a:prstGeom prst="rect">
            <a:avLst/>
          </a:prstGeom>
          <a:solidFill>
            <a:srgbClr val="3D1A6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914400"/>
            <a:ext cx="54864" cy="1783080"/>
          </a:xfrm>
          <a:prstGeom prst="rect">
            <a:avLst/>
          </a:prstGeom>
          <a:solidFill>
            <a:srgbClr val="2B8FE0"/>
          </a:solidFill>
          <a:ln w="12700">
            <a:solidFill>
              <a:srgbClr val="2B8F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6792" y="10241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Explainability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36792" y="1444752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teams see matched/missing skills — transparent decisions, no black box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880360"/>
            <a:ext cx="2788920" cy="1783080"/>
          </a:xfrm>
          <a:prstGeom prst="rect">
            <a:avLst/>
          </a:prstGeom>
          <a:solidFill>
            <a:srgbClr val="3D2A0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880360"/>
            <a:ext cx="54864" cy="1783080"/>
          </a:xfrm>
          <a:prstGeom prst="rect">
            <a:avLst/>
          </a:prstGeom>
          <a:solidFill>
            <a:srgbClr val="2B8FE0"/>
          </a:solidFill>
          <a:ln w="12700">
            <a:solidFill>
              <a:srgbClr val="2B8F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29900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Bias Reduction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" y="3410712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understanding reduces bias from non-standard resume formats and phrasing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2880360"/>
            <a:ext cx="2788920" cy="1783080"/>
          </a:xfrm>
          <a:prstGeom prst="rect">
            <a:avLst/>
          </a:prstGeom>
          <a:solidFill>
            <a:srgbClr val="1A3D0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46120" y="2880360"/>
            <a:ext cx="54864" cy="1783080"/>
          </a:xfrm>
          <a:prstGeom prst="rect">
            <a:avLst/>
          </a:prstGeom>
          <a:solidFill>
            <a:srgbClr val="2B8FE0"/>
          </a:solidFill>
          <a:ln w="12700">
            <a:solidFill>
              <a:srgbClr val="2B8F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10712" y="29900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Cost Efficiency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10712" y="3410712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stack, low cost deployment, no enterprise ATS licensing required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2880360"/>
            <a:ext cx="2788920" cy="1783080"/>
          </a:xfrm>
          <a:prstGeom prst="rect">
            <a:avLst/>
          </a:prstGeom>
          <a:solidFill>
            <a:srgbClr val="3D0A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2880360"/>
            <a:ext cx="54864" cy="1783080"/>
          </a:xfrm>
          <a:prstGeom prst="rect">
            <a:avLst/>
          </a:prstGeom>
          <a:solidFill>
            <a:srgbClr val="2B8FE0"/>
          </a:solidFill>
          <a:ln w="12700">
            <a:solidFill>
              <a:srgbClr val="2B8F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36792" y="29900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Scalability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36792" y="3410712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Python backend scales horizontally; batch mode handles enterprise volume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3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Goals (UN SDGs)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280160" cy="41148"/>
          </a:xfrm>
          <a:prstGeom prst="rect">
            <a:avLst/>
          </a:prstGeom>
          <a:solidFill>
            <a:srgbClr val="2B8FE0"/>
          </a:solidFill>
          <a:ln w="12700">
            <a:solidFill>
              <a:srgbClr val="2B8F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1097280" cy="713232"/>
          </a:xfrm>
          <a:prstGeom prst="rect">
            <a:avLst/>
          </a:prstGeom>
          <a:solidFill>
            <a:srgbClr val="E8403A"/>
          </a:solidFill>
          <a:ln w="12700">
            <a:solidFill>
              <a:srgbClr val="E840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7899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00200" y="9875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Education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00200" y="1298448"/>
            <a:ext cx="6995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match skilled graduates with relevant opportunities — bridges education-employment gap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737360"/>
            <a:ext cx="1097280" cy="713232"/>
          </a:xfrm>
          <a:prstGeom prst="rect">
            <a:avLst/>
          </a:prstGeom>
          <a:solidFill>
            <a:srgbClr val="A21942"/>
          </a:solidFill>
          <a:ln w="12700">
            <a:solidFill>
              <a:srgbClr val="A219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0195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8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00200" y="18105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 Work &amp; Growth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00200" y="2121408"/>
            <a:ext cx="6995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screening to promote fair, efficient hiring and reduce structural unemployment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56032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560320"/>
            <a:ext cx="1097280" cy="713232"/>
          </a:xfrm>
          <a:prstGeom prst="rect">
            <a:avLst/>
          </a:prstGeom>
          <a:solidFill>
            <a:srgbClr val="FD6925"/>
          </a:solidFill>
          <a:ln w="12700">
            <a:solidFill>
              <a:srgbClr val="FD69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2491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9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00200" y="26334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Innovation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00200" y="2944368"/>
            <a:ext cx="6995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AI/ML innovation to modernize traditional HR industry infrastructure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38328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383280"/>
            <a:ext cx="1097280" cy="713232"/>
          </a:xfrm>
          <a:prstGeom prst="rect">
            <a:avLst/>
          </a:prstGeom>
          <a:solidFill>
            <a:srgbClr val="DD1367"/>
          </a:solidFill>
          <a:ln w="12700">
            <a:solidFill>
              <a:srgbClr val="DD13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478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00200" y="34564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Inequalities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00200" y="3767328"/>
            <a:ext cx="6995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matching reduces bias against non-native speakers and non-standard resumes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20624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4206240"/>
            <a:ext cx="1097280" cy="713232"/>
          </a:xfrm>
          <a:prstGeom prst="rect">
            <a:avLst/>
          </a:prstGeom>
          <a:solidFill>
            <a:srgbClr val="19486A"/>
          </a:solidFill>
          <a:ln w="12700">
            <a:solidFill>
              <a:srgbClr val="1948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3708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17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600200" y="42793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 for Goals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600200" y="4590288"/>
            <a:ext cx="6995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and API-first — enables integration with global HR platforms and partners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&amp; Roadmap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280160" cy="41148"/>
          </a:xfrm>
          <a:prstGeom prst="rect">
            <a:avLst/>
          </a:prstGeom>
          <a:solidFill>
            <a:srgbClr val="2B8FE0"/>
          </a:solidFill>
          <a:ln w="12700">
            <a:solidFill>
              <a:srgbClr val="2B8F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1828800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7043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(Current)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94560" y="1417320"/>
            <a:ext cx="27432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68880" y="914400"/>
            <a:ext cx="6309360" cy="1097280"/>
          </a:xfrm>
          <a:prstGeom prst="rect">
            <a:avLst/>
          </a:prstGeom>
          <a:solidFill>
            <a:srgbClr val="0D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33472" y="10058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pipeline live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UI deployed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94.5% accuracy achieved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HR mode active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1828800" cy="1097280"/>
          </a:xfrm>
          <a:prstGeom prst="rect">
            <a:avLst/>
          </a:prstGeom>
          <a:solidFill>
            <a:srgbClr val="2B8FE0"/>
          </a:solidFill>
          <a:ln w="12700">
            <a:solidFill>
              <a:srgbClr val="2B8FE0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240487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 months)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194560" y="2651760"/>
            <a:ext cx="274320" cy="54864"/>
          </a:xfrm>
          <a:prstGeom prst="rect">
            <a:avLst/>
          </a:prstGeom>
          <a:solidFill>
            <a:srgbClr val="2B8FE0"/>
          </a:solidFill>
          <a:ln w="12700">
            <a:solidFill>
              <a:srgbClr val="2B8F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2148840"/>
            <a:ext cx="6309360" cy="1097280"/>
          </a:xfrm>
          <a:prstGeom prst="rect">
            <a:avLst/>
          </a:prstGeom>
          <a:solidFill>
            <a:srgbClr val="0D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33472" y="224028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resume support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version comparison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Gemini JD parsing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for HR tool integration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383280"/>
            <a:ext cx="1828800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363931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year)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194560" y="3886200"/>
            <a:ext cx="2743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3383280"/>
            <a:ext cx="6309360" cy="1097280"/>
          </a:xfrm>
          <a:prstGeom prst="rect">
            <a:avLst/>
          </a:prstGeom>
          <a:solidFill>
            <a:srgbClr val="0D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33472" y="347472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profile tracking over time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 recommendation engine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audit and fairness dashboard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deployment (Docker/K8s)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B3F7A"/>
          </a:solidFill>
          <a:ln w="12700">
            <a:solidFill>
              <a:srgbClr val="1B3F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2B8FE0"/>
          </a:solidFill>
          <a:ln w="12700">
            <a:solidFill>
              <a:srgbClr val="2B8F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SmartHire demonstrates that combining semantic AI with keyword analysis creates a powerful,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scalable, and transparent resume screening system suitable for real-world hiring.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286000"/>
            <a:ext cx="1554480" cy="914400"/>
          </a:xfrm>
          <a:prstGeom prst="rect">
            <a:avLst/>
          </a:prstGeom>
          <a:solidFill>
            <a:srgbClr val="0D2240"/>
          </a:solidFill>
          <a:ln w="12700">
            <a:solidFill>
              <a:srgbClr val="2B8FE0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234086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B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94.5%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27614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57400" y="2286000"/>
            <a:ext cx="1554480" cy="914400"/>
          </a:xfrm>
          <a:prstGeom prst="rect">
            <a:avLst/>
          </a:prstGeom>
          <a:solidFill>
            <a:srgbClr val="0D2240"/>
          </a:solidFill>
          <a:ln w="12700">
            <a:solidFill>
              <a:srgbClr val="2B8FE0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57400" y="234086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B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057400" y="27614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49040" y="2286000"/>
            <a:ext cx="1554480" cy="914400"/>
          </a:xfrm>
          <a:prstGeom prst="rect">
            <a:avLst/>
          </a:prstGeom>
          <a:solidFill>
            <a:srgbClr val="0D2240"/>
          </a:solidFill>
          <a:ln w="12700">
            <a:solidFill>
              <a:srgbClr val="2B8FE0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49040" y="234086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B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0.925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49040" y="27614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40680" y="2286000"/>
            <a:ext cx="1554480" cy="914400"/>
          </a:xfrm>
          <a:prstGeom prst="rect">
            <a:avLst/>
          </a:prstGeom>
          <a:solidFill>
            <a:srgbClr val="0D2240"/>
          </a:solidFill>
          <a:ln w="12700">
            <a:solidFill>
              <a:srgbClr val="2B8FE0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40680" y="234086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B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40680" y="27614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Resume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32320" y="2286000"/>
            <a:ext cx="1554480" cy="914400"/>
          </a:xfrm>
          <a:prstGeom prst="rect">
            <a:avLst/>
          </a:prstGeom>
          <a:solidFill>
            <a:srgbClr val="0D2240"/>
          </a:solidFill>
          <a:ln w="12700">
            <a:solidFill>
              <a:srgbClr val="2B8FE0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32320" y="234086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B8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132320" y="27614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Candidates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364992"/>
            <a:ext cx="8229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Hybrid approach (Semantic + Keyword) outperforms both approaches individually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Fully explainable: skill gap analysis gives HR teams actionable insights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Dual-mode system supports individual job seekers and enterprise HR departments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Open-source stack ensures low cost, high adaptability, and ease of deployment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Strong evaluation metrics validate real-world readiness and academic rigor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1940</Words>
  <Application>Microsoft Office PowerPoint</Application>
  <PresentationFormat>On-screen Show (16:9)</PresentationFormat>
  <Paragraphs>282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SmartHire: Intelligent Resume Screening System</dc:title>
  <dc:subject>PptxGenJS Presentation</dc:subject>
  <dc:creator>PptxGenJS</dc:creator>
  <cp:lastModifiedBy>diwakarmishra32286@outlook.com</cp:lastModifiedBy>
  <cp:revision>3</cp:revision>
  <dcterms:created xsi:type="dcterms:W3CDTF">2026-05-05T05:56:01Z</dcterms:created>
  <dcterms:modified xsi:type="dcterms:W3CDTF">2026-05-05T18:37:03Z</dcterms:modified>
</cp:coreProperties>
</file>